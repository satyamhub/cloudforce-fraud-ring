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1040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640080"/>
            <a:ext cx="11064240" cy="5212080"/>
          </a:xfrm>
          <a:prstGeom prst="rect">
            <a:avLst/>
          </a:prstGeom>
          <a:solidFill>
            <a:srgbClr val="0F172A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24128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8FAFC"/>
                </a:solidFill>
              </a:rPr>
              <a:t>Cloudforce Fraud Ring</a:t>
            </a:r>
          </a:p>
          <a:p>
            <a:pPr>
              <a:defRPr sz="2200">
                <a:solidFill>
                  <a:srgbClr val="38BDF8"/>
                </a:solidFill>
              </a:defRPr>
            </a:pPr>
            <a:r>
              <a:t>Fraud Ring Early Warning with TigerGraph</a:t>
            </a:r>
          </a:p>
          <a:p>
            <a:pPr>
              <a:defRPr sz="1800">
                <a:solidFill>
                  <a:srgbClr val="CBD5E1"/>
                </a:solidFill>
              </a:defRPr>
            </a:pPr>
            <a:r>
              <a:t>A live graph demo that finds fraud rings from one suspicious account.</a:t>
            </a:r>
          </a:p>
          <a:p>
            <a:pPr>
              <a:defRPr sz="1400">
                <a:solidFill>
                  <a:srgbClr val="10B981"/>
                </a:solidFill>
              </a:defRPr>
            </a:pPr>
            <a:r>
              <a:t>Event: Devacation 2026 Powered by TigerGraph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172200"/>
            <a:ext cx="11155680" cy="32004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190488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CBD5E1"/>
                </a:solidFill>
              </a:defRPr>
            </a:pPr>
            <a:r>
              <a:t>CLOUDFORCE | TigerGraph Hackathon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1040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8FAFC"/>
                </a:solidFill>
              </a:rPr>
              <a:t>Problem + Graph</a:t>
            </a:r>
          </a:p>
          <a:p>
            <a:pPr>
              <a:defRPr sz="1200">
                <a:solidFill>
                  <a:srgbClr val="CBD5E1"/>
                </a:solidFill>
              </a:defRPr>
            </a:pPr>
            <a:r>
              <a:t>What we detect and how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463040"/>
            <a:ext cx="3611880" cy="3383280"/>
          </a:xfrm>
          <a:prstGeom prst="rect">
            <a:avLst/>
          </a:prstGeom>
          <a:solidFill>
            <a:srgbClr val="0F172A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59" y="1645920"/>
            <a:ext cx="3246120" cy="3108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8BDF8"/>
                </a:solidFill>
              </a:defRPr>
            </a:pPr>
            <a:r>
              <a:t>Problem</a:t>
            </a:r>
          </a:p>
          <a:p>
            <a:pPr>
              <a:spcBef>
                <a:spcPts val="1200"/>
              </a:spcBef>
              <a:defRPr sz="1600">
                <a:solidFill>
                  <a:srgbClr val="F8FAFC"/>
                </a:solidFill>
              </a:defRPr>
            </a:pPr>
            <a:r>
              <a:t>Fraud rings reuse the same devices, phones, and IPs across many accounts.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07992" y="1463040"/>
            <a:ext cx="3611880" cy="3383280"/>
          </a:xfrm>
          <a:prstGeom prst="rect">
            <a:avLst/>
          </a:prstGeom>
          <a:solidFill>
            <a:srgbClr val="0F172A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690872" y="1645920"/>
            <a:ext cx="3246120" cy="3108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6366F1"/>
                </a:solidFill>
              </a:defRPr>
            </a:pPr>
            <a:r>
              <a:t>Graph</a:t>
            </a:r>
          </a:p>
          <a:p>
            <a:pPr>
              <a:spcBef>
                <a:spcPts val="1200"/>
              </a:spcBef>
              <a:defRPr sz="1600">
                <a:solidFill>
                  <a:srgbClr val="F8FAFC"/>
                </a:solidFill>
              </a:defRPr>
            </a:pPr>
            <a:r>
              <a:t>Accounts connect to Device, Phone, IPAddr, and Merchant vertices.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8375904" y="1463040"/>
            <a:ext cx="3611880" cy="3383280"/>
          </a:xfrm>
          <a:prstGeom prst="rect">
            <a:avLst/>
          </a:prstGeom>
          <a:solidFill>
            <a:srgbClr val="0F172A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58784" y="1645920"/>
            <a:ext cx="3246120" cy="3108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0B981"/>
                </a:solidFill>
              </a:defRPr>
            </a:pPr>
            <a:r>
              <a:t>Why TigerGraph</a:t>
            </a:r>
          </a:p>
          <a:p>
            <a:pPr>
              <a:spcBef>
                <a:spcPts val="1200"/>
              </a:spcBef>
              <a:defRPr sz="1600">
                <a:solidFill>
                  <a:srgbClr val="F8FAFC"/>
                </a:solidFill>
              </a:defRPr>
            </a:pPr>
            <a:r>
              <a:t>It makes hidden relationships visible in one query.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172200"/>
            <a:ext cx="11155680" cy="32004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190488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CBD5E1"/>
                </a:solidFill>
              </a:defRPr>
            </a:pPr>
            <a:r>
              <a:t>CLOUDFORCE | TigerGraph Hackathon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1040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8FAFC"/>
                </a:solidFill>
              </a:rPr>
              <a:t>Solution</a:t>
            </a:r>
          </a:p>
          <a:p>
            <a:pPr>
              <a:defRPr sz="1200">
                <a:solidFill>
                  <a:srgbClr val="CBD5E1"/>
                </a:solidFill>
              </a:defRPr>
            </a:pPr>
            <a:r>
              <a:t>Queries that explain the 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070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F8FAFC"/>
                </a:solidFill>
              </a:defRPr>
            </a:pPr>
            <a:r>
              <a:t>ringDetect(src, min_shared, top_k) finds accounts sharing assets with a seed account.</a:t>
            </a:r>
          </a:p>
          <a:p>
            <a:pPr>
              <a:spcAft>
                <a:spcPts val="1000"/>
              </a:spcAft>
              <a:defRPr sz="2000">
                <a:solidFill>
                  <a:srgbClr val="F8FAFC"/>
                </a:solidFill>
              </a:defRPr>
            </a:pPr>
            <a:r>
              <a:t>muleRanking(top_k) ranks the most suspicious accounts.</a:t>
            </a:r>
          </a:p>
          <a:p>
            <a:pPr>
              <a:spcAft>
                <a:spcPts val="1000"/>
              </a:spcAft>
              <a:defRPr sz="2000">
                <a:solidFill>
                  <a:srgbClr val="F8FAFC"/>
                </a:solidFill>
              </a:defRPr>
            </a:pPr>
            <a:r>
              <a:t>Each result includes shared_count, deg_in, deg_out, and risk_score.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172200"/>
            <a:ext cx="11155680" cy="32004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190488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CBD5E1"/>
                </a:solidFill>
              </a:defRPr>
            </a:pPr>
            <a:r>
              <a:t>CLOUDFORCE | TigerGraph Hackathon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1040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8FAFC"/>
                </a:solidFill>
              </a:rPr>
              <a:t>Demo Flow</a:t>
            </a:r>
          </a:p>
          <a:p>
            <a:pPr>
              <a:defRPr sz="1200">
                <a:solidFill>
                  <a:srgbClr val="CBD5E1"/>
                </a:solidFill>
              </a:defRPr>
            </a:pPr>
            <a:r>
              <a:t>How judges run it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463040"/>
            <a:ext cx="3611880" cy="3383280"/>
          </a:xfrm>
          <a:prstGeom prst="rect">
            <a:avLst/>
          </a:prstGeom>
          <a:solidFill>
            <a:srgbClr val="0F172A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59" y="1645920"/>
            <a:ext cx="3246120" cy="3108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8BDF8"/>
                </a:solidFill>
              </a:defRPr>
            </a:pPr>
            <a:r>
              <a:t>Proxy</a:t>
            </a:r>
          </a:p>
          <a:p>
            <a:pPr>
              <a:spcBef>
                <a:spcPts val="1200"/>
              </a:spcBef>
              <a:defRPr sz="1600">
                <a:solidFill>
                  <a:srgbClr val="F8FAFC"/>
                </a:solidFill>
              </a:defRPr>
            </a:pPr>
            <a:r>
              <a:t>Flask proxy injects the TigerGraph token and forwards requests.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07992" y="1463040"/>
            <a:ext cx="3611880" cy="3383280"/>
          </a:xfrm>
          <a:prstGeom prst="rect">
            <a:avLst/>
          </a:prstGeom>
          <a:solidFill>
            <a:srgbClr val="0F172A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690872" y="1645920"/>
            <a:ext cx="3246120" cy="3108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6366F1"/>
                </a:solidFill>
              </a:defRPr>
            </a:pPr>
            <a:r>
              <a:t>Viewer</a:t>
            </a:r>
          </a:p>
          <a:p>
            <a:pPr>
              <a:spcBef>
                <a:spcPts val="1200"/>
              </a:spcBef>
              <a:defRPr sz="1600">
                <a:solidFill>
                  <a:srgbClr val="F8FAFC"/>
                </a:solidFill>
              </a:defRPr>
            </a:pPr>
            <a:r>
              <a:t>Browser UI calls the proxy, so secrets stay server-side.</a:t>
            </a:r>
          </a:p>
        </p:txBody>
      </p:sp>
      <p:sp>
        <p:nvSpPr>
          <p:cNvPr id="7" name="Rectangle 6"/>
          <p:cNvSpPr/>
          <p:nvPr/>
        </p:nvSpPr>
        <p:spPr>
          <a:xfrm>
            <a:off x="8375904" y="1463040"/>
            <a:ext cx="3611880" cy="3383280"/>
          </a:xfrm>
          <a:prstGeom prst="rect">
            <a:avLst/>
          </a:prstGeom>
          <a:solidFill>
            <a:srgbClr val="0F172A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58784" y="1645920"/>
            <a:ext cx="3246120" cy="3108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0B981"/>
                </a:solidFill>
              </a:defRPr>
            </a:pPr>
            <a:r>
              <a:t>REST</a:t>
            </a:r>
          </a:p>
          <a:p>
            <a:pPr>
              <a:spcBef>
                <a:spcPts val="1200"/>
              </a:spcBef>
              <a:defRPr sz="1600">
                <a:solidFill>
                  <a:srgbClr val="F8FAFC"/>
                </a:solidFill>
              </a:defRPr>
            </a:pPr>
            <a:r>
              <a:t>Example: /query/Fraud/ringDetect?src=acct_0000&amp;min_shared=2&amp;top_k=10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172200"/>
            <a:ext cx="11155680" cy="32004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190488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CBD5E1"/>
                </a:solidFill>
              </a:defRPr>
            </a:pPr>
            <a:r>
              <a:t>CLOUDFORCE | TigerGraph Hackathon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1040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8FAFC"/>
                </a:solidFill>
              </a:rPr>
              <a:t>Impact</a:t>
            </a:r>
          </a:p>
          <a:p>
            <a:pPr>
              <a:defRPr sz="1200">
                <a:solidFill>
                  <a:srgbClr val="CBD5E1"/>
                </a:solidFill>
              </a:defRPr>
            </a:pPr>
            <a:r>
              <a:t>Why it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070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F8FAFC"/>
                </a:solidFill>
              </a:defRPr>
            </a:pPr>
            <a:r>
              <a:t>Surfaces fraud rings in one query instead of manual tracing.</a:t>
            </a:r>
          </a:p>
          <a:p>
            <a:pPr>
              <a:spcAft>
                <a:spcPts val="1000"/>
              </a:spcAft>
              <a:defRPr sz="2000">
                <a:solidFill>
                  <a:srgbClr val="F8FAFC"/>
                </a:solidFill>
              </a:defRPr>
            </a:pPr>
            <a:r>
              <a:t>Cuts noise by focusing on connected patterns, not isolated transactions.</a:t>
            </a:r>
          </a:p>
          <a:p>
            <a:pPr>
              <a:spcAft>
                <a:spcPts val="1000"/>
              </a:spcAft>
              <a:defRPr sz="2000">
                <a:solidFill>
                  <a:srgbClr val="F8FAFC"/>
                </a:solidFill>
              </a:defRPr>
            </a:pPr>
            <a:r>
              <a:t>Gives investigators a simple story they can explain to stakeholders.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172200"/>
            <a:ext cx="11155680" cy="32004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190488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CBD5E1"/>
                </a:solidFill>
              </a:defRPr>
            </a:pPr>
            <a:r>
              <a:t>CLOUDFORCE | TigerGraph Hackathon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