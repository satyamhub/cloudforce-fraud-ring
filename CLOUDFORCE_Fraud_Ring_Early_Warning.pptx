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6EBF0FC-235E-470A-9800-B82B9C0157C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5EE36AD-B093-49AF-A7D6-B965A6C3EB2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5A22930-3E17-4B17-89E0-E5190C928FA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8F773CB-1080-4AB4-AB70-C4F257608E9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4A7F4CB-9933-4CEE-8E55-8DE8C804F8C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38079D2-3FEB-4651-BF3F-F73D53FF08D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52ABAD2-434B-443A-98C6-2760324353B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195F703-C1C6-47E0-96AC-013FD3B4A1C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31D08D3-E059-411C-A9E0-F76FCC7F564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5273843-C7DA-48BE-8D3E-A154EFF6176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6024418-1973-4D23-9E6B-BF84AB319D8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104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548640" y="640080"/>
            <a:ext cx="11063880" cy="5211720"/>
          </a:xfrm>
          <a:prstGeom prst="rect">
            <a:avLst/>
          </a:prstGeom>
          <a:solidFill>
            <a:srgbClr val="0f172a"/>
          </a:solidFill>
          <a:ln>
            <a:solidFill>
              <a:srgbClr val="38bdf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Box 4"/>
          <p:cNvSpPr/>
          <p:nvPr/>
        </p:nvSpPr>
        <p:spPr>
          <a:xfrm>
            <a:off x="914400" y="1097280"/>
            <a:ext cx="1024092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Cloudforce Fraud Ring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38bdf8"/>
                </a:solidFill>
                <a:effectLst/>
                <a:uFillTx/>
                <a:latin typeface="Calibri"/>
              </a:rPr>
              <a:t>Fraud Ring Early Warning with TigerGraph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Detect dense UPI, device, phone, and IP sharing networks before losses spread.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Team: Satyam Mall, Akash, Shaurya Srivastava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Event: Devacation 2026 Powered by TigerGraph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Rectangle 5"/>
          <p:cNvSpPr/>
          <p:nvPr/>
        </p:nvSpPr>
        <p:spPr>
          <a:xfrm>
            <a:off x="502920" y="6172200"/>
            <a:ext cx="11155320" cy="319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TextBox 6"/>
          <p:cNvSpPr/>
          <p:nvPr/>
        </p:nvSpPr>
        <p:spPr>
          <a:xfrm>
            <a:off x="685800" y="6190560"/>
            <a:ext cx="10789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CLOUDFORCE | TigerGraph Hackathon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104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1"/>
          <p:cNvSpPr/>
          <p:nvPr/>
        </p:nvSpPr>
        <p:spPr>
          <a:xfrm>
            <a:off x="548640" y="411480"/>
            <a:ext cx="110638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Problem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Why fraud rings are hard to catch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2"/>
          <p:cNvSpPr/>
          <p:nvPr/>
        </p:nvSpPr>
        <p:spPr>
          <a:xfrm>
            <a:off x="731520" y="1645920"/>
            <a:ext cx="1060668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Fraud rings reuse the same devices, IPs, phones, and merchants across many accounts.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One transaction can look normal, but the pattern becomes suspicious when accounts are connected.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Rule-based systems struggle to explain multi-hop relationships and often miss the ring entirely.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Rectangle 3"/>
          <p:cNvSpPr/>
          <p:nvPr/>
        </p:nvSpPr>
        <p:spPr>
          <a:xfrm>
            <a:off x="502920" y="6172200"/>
            <a:ext cx="11155320" cy="319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TextBox 4"/>
          <p:cNvSpPr/>
          <p:nvPr/>
        </p:nvSpPr>
        <p:spPr>
          <a:xfrm>
            <a:off x="685800" y="6190560"/>
            <a:ext cx="10789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CLOUDFORCE | TigerGraph Hackathon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104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1"/>
          <p:cNvSpPr/>
          <p:nvPr/>
        </p:nvSpPr>
        <p:spPr>
          <a:xfrm>
            <a:off x="548640" y="411480"/>
            <a:ext cx="110638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Graph Model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A graph makes hidden connections visible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Rectangle 2"/>
          <p:cNvSpPr/>
          <p:nvPr/>
        </p:nvSpPr>
        <p:spPr>
          <a:xfrm>
            <a:off x="640080" y="1463040"/>
            <a:ext cx="3611520" cy="3382920"/>
          </a:xfrm>
          <a:prstGeom prst="rect">
            <a:avLst/>
          </a:prstGeom>
          <a:solidFill>
            <a:srgbClr val="0f172a"/>
          </a:solidFill>
          <a:ln>
            <a:solidFill>
              <a:srgbClr val="38bdf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3"/>
          <p:cNvSpPr/>
          <p:nvPr/>
        </p:nvSpPr>
        <p:spPr>
          <a:xfrm>
            <a:off x="822960" y="1645920"/>
            <a:ext cx="3245760" cy="31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38bdf8"/>
                </a:solidFill>
                <a:effectLst/>
                <a:uFillTx/>
                <a:latin typeface="Calibri"/>
              </a:rPr>
              <a:t>Vertices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Account, Device, Phone, IPAddr, Merchant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4"/>
          <p:cNvSpPr/>
          <p:nvPr/>
        </p:nvSpPr>
        <p:spPr>
          <a:xfrm>
            <a:off x="4507920" y="1463040"/>
            <a:ext cx="3611520" cy="3382920"/>
          </a:xfrm>
          <a:prstGeom prst="rect">
            <a:avLst/>
          </a:prstGeom>
          <a:solidFill>
            <a:srgbClr val="0f172a"/>
          </a:solidFill>
          <a:ln>
            <a:solidFill>
              <a:srgbClr val="6366f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5"/>
          <p:cNvSpPr/>
          <p:nvPr/>
        </p:nvSpPr>
        <p:spPr>
          <a:xfrm>
            <a:off x="4690800" y="1645920"/>
            <a:ext cx="3245760" cy="31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6366f1"/>
                </a:solidFill>
                <a:effectLst/>
                <a:uFillTx/>
                <a:latin typeface="Calibri"/>
              </a:rPr>
              <a:t>Edges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UsesDevice, HasPhone, AtIP, Transfer, ShopsAt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Rectangle 6"/>
          <p:cNvSpPr/>
          <p:nvPr/>
        </p:nvSpPr>
        <p:spPr>
          <a:xfrm>
            <a:off x="8375760" y="1463040"/>
            <a:ext cx="3611520" cy="3382920"/>
          </a:xfrm>
          <a:prstGeom prst="rect">
            <a:avLst/>
          </a:prstGeom>
          <a:solidFill>
            <a:srgbClr val="0f172a"/>
          </a:solidFill>
          <a:ln>
            <a:solidFill>
              <a:srgbClr val="10b98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7"/>
          <p:cNvSpPr/>
          <p:nvPr/>
        </p:nvSpPr>
        <p:spPr>
          <a:xfrm>
            <a:off x="8558640" y="1645920"/>
            <a:ext cx="3245760" cy="31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Why graph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Shared identifiers plus money flow expose coordination fast.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Rectangle 8"/>
          <p:cNvSpPr/>
          <p:nvPr/>
        </p:nvSpPr>
        <p:spPr>
          <a:xfrm>
            <a:off x="502920" y="6172200"/>
            <a:ext cx="11155320" cy="319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9"/>
          <p:cNvSpPr/>
          <p:nvPr/>
        </p:nvSpPr>
        <p:spPr>
          <a:xfrm>
            <a:off x="685800" y="6190560"/>
            <a:ext cx="10789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CLOUDFORCE | TigerGraph Hackathon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104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1"/>
          <p:cNvSpPr/>
          <p:nvPr/>
        </p:nvSpPr>
        <p:spPr>
          <a:xfrm>
            <a:off x="548640" y="411480"/>
            <a:ext cx="110638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Solution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RingDetect and MuleRanking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"/>
          <p:cNvSpPr/>
          <p:nvPr/>
        </p:nvSpPr>
        <p:spPr>
          <a:xfrm>
            <a:off x="731520" y="1645920"/>
            <a:ext cx="1060668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ringDetect(src, min_shared, top_k): finds accounts that share assets with a seed account.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muleRanking(top_k): ranks suspicious accounts by shared activity and degree signals.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Each result is explainable through shared_count, deg_in, deg_out, and risk_score.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Rectangle 3"/>
          <p:cNvSpPr/>
          <p:nvPr/>
        </p:nvSpPr>
        <p:spPr>
          <a:xfrm>
            <a:off x="502920" y="6172200"/>
            <a:ext cx="11155320" cy="319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Box 4"/>
          <p:cNvSpPr/>
          <p:nvPr/>
        </p:nvSpPr>
        <p:spPr>
          <a:xfrm>
            <a:off x="685800" y="6190560"/>
            <a:ext cx="10789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CLOUDFORCE | TigerGraph Hackathon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104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Box 1"/>
          <p:cNvSpPr/>
          <p:nvPr/>
        </p:nvSpPr>
        <p:spPr>
          <a:xfrm>
            <a:off x="548640" y="411480"/>
            <a:ext cx="110638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Demo Flow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How the judge sees 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640080" y="1463040"/>
            <a:ext cx="3611520" cy="3382920"/>
          </a:xfrm>
          <a:prstGeom prst="rect">
            <a:avLst/>
          </a:prstGeom>
          <a:solidFill>
            <a:srgbClr val="0f172a"/>
          </a:solidFill>
          <a:ln>
            <a:solidFill>
              <a:srgbClr val="38bdf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Box 3"/>
          <p:cNvSpPr/>
          <p:nvPr/>
        </p:nvSpPr>
        <p:spPr>
          <a:xfrm>
            <a:off x="822960" y="1645920"/>
            <a:ext cx="3245760" cy="31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38bdf8"/>
                </a:solidFill>
                <a:effectLst/>
                <a:uFillTx/>
                <a:latin typeface="Calibri"/>
              </a:rPr>
              <a:t>Proxy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Flask/Gunicorn injects the TigerGraph token and forwards to REST++.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Rectangle 4"/>
          <p:cNvSpPr/>
          <p:nvPr/>
        </p:nvSpPr>
        <p:spPr>
          <a:xfrm>
            <a:off x="4507920" y="1463040"/>
            <a:ext cx="3611520" cy="3382920"/>
          </a:xfrm>
          <a:prstGeom prst="rect">
            <a:avLst/>
          </a:prstGeom>
          <a:solidFill>
            <a:srgbClr val="0f172a"/>
          </a:solidFill>
          <a:ln>
            <a:solidFill>
              <a:srgbClr val="6366f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TextBox 5"/>
          <p:cNvSpPr/>
          <p:nvPr/>
        </p:nvSpPr>
        <p:spPr>
          <a:xfrm>
            <a:off x="4690800" y="1645920"/>
            <a:ext cx="3245760" cy="31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6366f1"/>
                </a:solidFill>
                <a:effectLst/>
                <a:uFillTx/>
                <a:latin typeface="Calibri"/>
              </a:rPr>
              <a:t>Viewer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The HTML page calls the proxy, so secrets never reach the browser.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Rectangle 6"/>
          <p:cNvSpPr/>
          <p:nvPr/>
        </p:nvSpPr>
        <p:spPr>
          <a:xfrm>
            <a:off x="8375760" y="1463040"/>
            <a:ext cx="3611520" cy="3382920"/>
          </a:xfrm>
          <a:prstGeom prst="rect">
            <a:avLst/>
          </a:prstGeom>
          <a:solidFill>
            <a:srgbClr val="0f172a"/>
          </a:solidFill>
          <a:ln>
            <a:solidFill>
              <a:srgbClr val="10b98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7"/>
          <p:cNvSpPr/>
          <p:nvPr/>
        </p:nvSpPr>
        <p:spPr>
          <a:xfrm>
            <a:off x="8558640" y="1645920"/>
            <a:ext cx="3245760" cy="31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REST example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http://localhost:9000/query/Fraud/ringDetect?src=acct_0000&amp;min_shared=2&amp;top_k=10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Rectangle 8"/>
          <p:cNvSpPr/>
          <p:nvPr/>
        </p:nvSpPr>
        <p:spPr>
          <a:xfrm>
            <a:off x="502920" y="6172200"/>
            <a:ext cx="11155320" cy="319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9"/>
          <p:cNvSpPr/>
          <p:nvPr/>
        </p:nvSpPr>
        <p:spPr>
          <a:xfrm>
            <a:off x="685800" y="6190560"/>
            <a:ext cx="10789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CLOUDFORCE | TigerGraph Hackathon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104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Box 1"/>
          <p:cNvSpPr/>
          <p:nvPr/>
        </p:nvSpPr>
        <p:spPr>
          <a:xfrm>
            <a:off x="548640" y="411480"/>
            <a:ext cx="110638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Impact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Why this matters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2"/>
          <p:cNvSpPr/>
          <p:nvPr/>
        </p:nvSpPr>
        <p:spPr>
          <a:xfrm>
            <a:off x="731520" y="1645920"/>
            <a:ext cx="1060668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Surfaces a ring around one seed account in one query.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Reduces alert noise by focusing on relationship patterns, not isolated transactions.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Helps investigators tell a clear story with the graph path and risk metadata.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Rectangle 3"/>
          <p:cNvSpPr/>
          <p:nvPr/>
        </p:nvSpPr>
        <p:spPr>
          <a:xfrm>
            <a:off x="502920" y="6172200"/>
            <a:ext cx="11155320" cy="319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Box 4"/>
          <p:cNvSpPr/>
          <p:nvPr/>
        </p:nvSpPr>
        <p:spPr>
          <a:xfrm>
            <a:off x="685800" y="6190560"/>
            <a:ext cx="10789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CLOUDFORCE | TigerGraph Hackathon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104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Box 1"/>
          <p:cNvSpPr/>
          <p:nvPr/>
        </p:nvSpPr>
        <p:spPr>
          <a:xfrm>
            <a:off x="548640" y="411480"/>
            <a:ext cx="110638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Roadmap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Where we can extend next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2"/>
          <p:cNvSpPr/>
          <p:nvPr/>
        </p:nvSpPr>
        <p:spPr>
          <a:xfrm>
            <a:off x="731520" y="1645920"/>
            <a:ext cx="1060668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Add merchant risk signals and time-window filters.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Add amount thresholds and recent-activity scoring.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Add a path-view UI and exportable case notes for investigators.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Rectangle 3"/>
          <p:cNvSpPr/>
          <p:nvPr/>
        </p:nvSpPr>
        <p:spPr>
          <a:xfrm>
            <a:off x="502920" y="6172200"/>
            <a:ext cx="11155320" cy="319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Box 4"/>
          <p:cNvSpPr/>
          <p:nvPr/>
        </p:nvSpPr>
        <p:spPr>
          <a:xfrm>
            <a:off x="685800" y="6190560"/>
            <a:ext cx="10789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CLOUDFORCE | TigerGraph Hackathon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104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Box 1"/>
          <p:cNvSpPr/>
          <p:nvPr/>
        </p:nvSpPr>
        <p:spPr>
          <a:xfrm>
            <a:off x="548640" y="411480"/>
            <a:ext cx="110638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Team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CLOUDFORCE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2"/>
          <p:cNvSpPr/>
          <p:nvPr/>
        </p:nvSpPr>
        <p:spPr>
          <a:xfrm>
            <a:off x="731520" y="1645920"/>
            <a:ext cx="1060668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Satyam Mall - data, GSQL, TigerGraph setup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Akash - UI, demo flow, and submission assets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Shaurya Srivastava - presentation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Hackathon repo: cloudforce-fraud-ring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Rectangle 3"/>
          <p:cNvSpPr/>
          <p:nvPr/>
        </p:nvSpPr>
        <p:spPr>
          <a:xfrm>
            <a:off x="502920" y="6172200"/>
            <a:ext cx="11155320" cy="319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TextBox 4"/>
          <p:cNvSpPr/>
          <p:nvPr/>
        </p:nvSpPr>
        <p:spPr>
          <a:xfrm>
            <a:off x="685800" y="6190560"/>
            <a:ext cx="10789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CLOUDFORCE | TigerGraph Hackathon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LibreOffice/25.8.5.2$Linux_X86_64 LibreOffice_project/580$Build-2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cp:lastPrinted>2026-04-02T10:28:40Z</cp:lastPrinted>
  <dcterms:modified xsi:type="dcterms:W3CDTF">2026-04-02T10:28:51Z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