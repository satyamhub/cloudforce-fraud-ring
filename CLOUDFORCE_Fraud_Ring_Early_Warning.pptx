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04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11064240" cy="5212080"/>
          </a:xfrm>
          <a:prstGeom prst="rect">
            <a:avLst/>
          </a:prstGeom>
          <a:solidFill>
            <a:srgbClr val="0F172A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46920" y="411480"/>
            <a:ext cx="1828800" cy="18288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igergrap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548640"/>
            <a:ext cx="1554480" cy="1554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097280"/>
            <a:ext cx="1024128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8FAFC"/>
                </a:solidFill>
              </a:rPr>
              <a:t>Cloudforce Fraud Ring</a:t>
            </a:r>
          </a:p>
          <a:p>
            <a:pPr>
              <a:defRPr sz="2200">
                <a:solidFill>
                  <a:srgbClr val="38BDF8"/>
                </a:solidFill>
              </a:defRPr>
            </a:pPr>
            <a:r>
              <a:t>Fraud Ring Early Warning with TigerGraph</a:t>
            </a:r>
          </a:p>
          <a:p>
            <a:pPr>
              <a:defRPr sz="1800">
                <a:solidFill>
                  <a:srgbClr val="CBD5E1"/>
                </a:solidFill>
              </a:defRPr>
            </a:pPr>
            <a:r>
              <a:t>Detect dense UPI, device, phone, and IP sharing networks before losses spread.</a:t>
            </a:r>
          </a:p>
          <a:p>
            <a:pPr>
              <a:defRPr sz="1600">
                <a:solidFill>
                  <a:srgbClr val="F59E0B"/>
                </a:solidFill>
              </a:defRPr>
            </a:pPr>
            <a:r>
              <a:t>Team: Satyam Mall, Akash, Shaurya Srivastava</a:t>
            </a:r>
          </a:p>
          <a:p>
            <a:pPr>
              <a:defRPr sz="1400">
                <a:solidFill>
                  <a:srgbClr val="10B981"/>
                </a:solidFill>
              </a:defRPr>
            </a:pPr>
            <a:r>
              <a:t>Event: Devacation 2026 Powered by TigerGraph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172200"/>
            <a:ext cx="11155680" cy="32004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6190488"/>
            <a:ext cx="107899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</a:defRPr>
            </a:pPr>
            <a:r>
              <a:t>CLOUDFORCE | TigerGraph Hackathon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04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</a:rPr>
              <a:t>Problem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Why fraud rings are hard to catch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07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8FAFC"/>
                </a:solidFill>
              </a:defRPr>
            </a:pPr>
            <a:r>
              <a:t>Fraud rings reuse the same devices, IPs, phones, and merchants across many accounts.</a:t>
            </a:r>
          </a:p>
          <a:p>
            <a:pPr>
              <a:spcAft>
                <a:spcPts val="1000"/>
              </a:spcAft>
              <a:defRPr sz="2000">
                <a:solidFill>
                  <a:srgbClr val="F8FAFC"/>
                </a:solidFill>
              </a:defRPr>
            </a:pPr>
            <a:r>
              <a:t>One transaction can look normal, but the pattern becomes suspicious when accounts are connected.</a:t>
            </a:r>
          </a:p>
          <a:p>
            <a:pPr>
              <a:spcAft>
                <a:spcPts val="1000"/>
              </a:spcAft>
              <a:defRPr sz="2000">
                <a:solidFill>
                  <a:srgbClr val="F8FAFC"/>
                </a:solidFill>
              </a:defRPr>
            </a:pPr>
            <a:r>
              <a:t>Rule-based systems struggle to explain multi-hop relationships and often miss the ring entirely.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172200"/>
            <a:ext cx="11155680" cy="32004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190488"/>
            <a:ext cx="107899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</a:defRPr>
            </a:pPr>
            <a:r>
              <a:t>CLOUDFORCE | TigerGraph Hackathon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04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</a:rPr>
              <a:t>Graph Model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A graph makes hidden connections visible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63040"/>
            <a:ext cx="3611880" cy="3383280"/>
          </a:xfrm>
          <a:prstGeom prst="rect">
            <a:avLst/>
          </a:prstGeom>
          <a:solidFill>
            <a:srgbClr val="0F172A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45920"/>
            <a:ext cx="324612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8BDF8"/>
                </a:solidFill>
              </a:defRPr>
            </a:pPr>
            <a:r>
              <a:t>Vertices</a:t>
            </a:r>
          </a:p>
          <a:p>
            <a:pPr>
              <a:spcBef>
                <a:spcPts val="1200"/>
              </a:spcBef>
              <a:defRPr sz="1600">
                <a:solidFill>
                  <a:srgbClr val="F8FAFC"/>
                </a:solidFill>
              </a:defRPr>
            </a:pPr>
            <a:r>
              <a:t>Account, Device, Phone, IPAddr, Merchant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07992" y="1463040"/>
            <a:ext cx="3611880" cy="3383280"/>
          </a:xfrm>
          <a:prstGeom prst="rect">
            <a:avLst/>
          </a:prstGeom>
          <a:solidFill>
            <a:srgbClr val="0F172A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90872" y="1645920"/>
            <a:ext cx="324612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6366F1"/>
                </a:solidFill>
              </a:defRPr>
            </a:pPr>
            <a:r>
              <a:t>Edges</a:t>
            </a:r>
          </a:p>
          <a:p>
            <a:pPr>
              <a:spcBef>
                <a:spcPts val="1200"/>
              </a:spcBef>
              <a:defRPr sz="1600">
                <a:solidFill>
                  <a:srgbClr val="F8FAFC"/>
                </a:solidFill>
              </a:defRPr>
            </a:pPr>
            <a:r>
              <a:t>UsesDevice, HasPhone, AtIP, Transfer, ShopsAt</a:t>
            </a:r>
          </a:p>
        </p:txBody>
      </p:sp>
      <p:sp>
        <p:nvSpPr>
          <p:cNvPr id="7" name="Rectangle 6"/>
          <p:cNvSpPr/>
          <p:nvPr/>
        </p:nvSpPr>
        <p:spPr>
          <a:xfrm>
            <a:off x="8375904" y="1463040"/>
            <a:ext cx="3611880" cy="3383280"/>
          </a:xfrm>
          <a:prstGeom prst="rect">
            <a:avLst/>
          </a:prstGeom>
          <a:solidFill>
            <a:srgbClr val="0F172A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58784" y="1645920"/>
            <a:ext cx="324612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0B981"/>
                </a:solidFill>
              </a:defRPr>
            </a:pPr>
            <a:r>
              <a:t>Why graph</a:t>
            </a:r>
          </a:p>
          <a:p>
            <a:pPr>
              <a:spcBef>
                <a:spcPts val="1200"/>
              </a:spcBef>
              <a:defRPr sz="1600">
                <a:solidFill>
                  <a:srgbClr val="F8FAFC"/>
                </a:solidFill>
              </a:defRPr>
            </a:pPr>
            <a:r>
              <a:t>Shared identifiers plus money flow expose coordination fast.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172200"/>
            <a:ext cx="11155680" cy="32004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190488"/>
            <a:ext cx="107899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</a:defRPr>
            </a:pPr>
            <a:r>
              <a:t>CLOUDFORCE | TigerGraph Hackathon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04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</a:rPr>
              <a:t>Solution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RingDetect and MuleRanking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07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8FAFC"/>
                </a:solidFill>
              </a:defRPr>
            </a:pPr>
            <a:r>
              <a:t>ringDetect(src, min_shared, top_k): finds accounts that share assets with a seed account.</a:t>
            </a:r>
          </a:p>
          <a:p>
            <a:pPr>
              <a:spcAft>
                <a:spcPts val="1000"/>
              </a:spcAft>
              <a:defRPr sz="2000">
                <a:solidFill>
                  <a:srgbClr val="F8FAFC"/>
                </a:solidFill>
              </a:defRPr>
            </a:pPr>
            <a:r>
              <a:t>muleRanking(top_k): ranks suspicious accounts by shared activity and degree signals.</a:t>
            </a:r>
          </a:p>
          <a:p>
            <a:pPr>
              <a:spcAft>
                <a:spcPts val="1000"/>
              </a:spcAft>
              <a:defRPr sz="2000">
                <a:solidFill>
                  <a:srgbClr val="F8FAFC"/>
                </a:solidFill>
              </a:defRPr>
            </a:pPr>
            <a:r>
              <a:t>Each result is explainable through shared_count, deg_in, deg_out, and risk_score.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172200"/>
            <a:ext cx="11155680" cy="32004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190488"/>
            <a:ext cx="107899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</a:defRPr>
            </a:pPr>
            <a:r>
              <a:t>CLOUDFORCE | TigerGraph Hackathon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04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</a:rPr>
              <a:t>Demo Flow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How the judge sees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63040"/>
            <a:ext cx="3611880" cy="3383280"/>
          </a:xfrm>
          <a:prstGeom prst="rect">
            <a:avLst/>
          </a:prstGeom>
          <a:solidFill>
            <a:srgbClr val="0F172A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45920"/>
            <a:ext cx="324612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8BDF8"/>
                </a:solidFill>
              </a:defRPr>
            </a:pPr>
            <a:r>
              <a:t>Proxy</a:t>
            </a:r>
          </a:p>
          <a:p>
            <a:pPr>
              <a:spcBef>
                <a:spcPts val="1200"/>
              </a:spcBef>
              <a:defRPr sz="1600">
                <a:solidFill>
                  <a:srgbClr val="F8FAFC"/>
                </a:solidFill>
              </a:defRPr>
            </a:pPr>
            <a:r>
              <a:t>Flask/Gunicorn injects the TigerGraph token and forwards to REST++.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07992" y="1463040"/>
            <a:ext cx="3611880" cy="3383280"/>
          </a:xfrm>
          <a:prstGeom prst="rect">
            <a:avLst/>
          </a:prstGeom>
          <a:solidFill>
            <a:srgbClr val="0F172A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90872" y="1645920"/>
            <a:ext cx="324612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6366F1"/>
                </a:solidFill>
              </a:defRPr>
            </a:pPr>
            <a:r>
              <a:t>Viewer</a:t>
            </a:r>
          </a:p>
          <a:p>
            <a:pPr>
              <a:spcBef>
                <a:spcPts val="1200"/>
              </a:spcBef>
              <a:defRPr sz="1600">
                <a:solidFill>
                  <a:srgbClr val="F8FAFC"/>
                </a:solidFill>
              </a:defRPr>
            </a:pPr>
            <a:r>
              <a:t>The HTML page calls the proxy, so secrets never reach the browser.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8375904" y="1463040"/>
            <a:ext cx="3611880" cy="3383280"/>
          </a:xfrm>
          <a:prstGeom prst="rect">
            <a:avLst/>
          </a:prstGeom>
          <a:solidFill>
            <a:srgbClr val="0F172A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58784" y="1645920"/>
            <a:ext cx="324612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0B981"/>
                </a:solidFill>
              </a:defRPr>
            </a:pPr>
            <a:r>
              <a:t>REST example</a:t>
            </a:r>
          </a:p>
          <a:p>
            <a:pPr>
              <a:spcBef>
                <a:spcPts val="1200"/>
              </a:spcBef>
              <a:defRPr sz="1600">
                <a:solidFill>
                  <a:srgbClr val="F8FAFC"/>
                </a:solidFill>
              </a:defRPr>
            </a:pPr>
            <a:r>
              <a:t>http://localhost:9000/query/Fraud/ringDetect?src=acct_0000&amp;min_shared=2&amp;top_k=10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172200"/>
            <a:ext cx="11155680" cy="32004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190488"/>
            <a:ext cx="107899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</a:defRPr>
            </a:pPr>
            <a:r>
              <a:t>CLOUDFORCE | TigerGraph Hackathon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04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</a:rPr>
              <a:t>Impact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Why this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07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8FAFC"/>
                </a:solidFill>
              </a:defRPr>
            </a:pPr>
            <a:r>
              <a:t>Surfaces a ring around one seed account in one query.</a:t>
            </a:r>
          </a:p>
          <a:p>
            <a:pPr>
              <a:spcAft>
                <a:spcPts val="1000"/>
              </a:spcAft>
              <a:defRPr sz="2000">
                <a:solidFill>
                  <a:srgbClr val="F8FAFC"/>
                </a:solidFill>
              </a:defRPr>
            </a:pPr>
            <a:r>
              <a:t>Reduces alert noise by focusing on relationship patterns, not isolated transactions.</a:t>
            </a:r>
          </a:p>
          <a:p>
            <a:pPr>
              <a:spcAft>
                <a:spcPts val="1000"/>
              </a:spcAft>
              <a:defRPr sz="2000">
                <a:solidFill>
                  <a:srgbClr val="F8FAFC"/>
                </a:solidFill>
              </a:defRPr>
            </a:pPr>
            <a:r>
              <a:t>Helps investigators tell a clear story with the graph path and risk metadata.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172200"/>
            <a:ext cx="11155680" cy="32004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190488"/>
            <a:ext cx="107899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</a:defRPr>
            </a:pPr>
            <a:r>
              <a:t>CLOUDFORCE | TigerGraph Hackathon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04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</a:rPr>
              <a:t>Roadmap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Where we can extend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07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8FAFC"/>
                </a:solidFill>
              </a:defRPr>
            </a:pPr>
            <a:r>
              <a:t>Add merchant risk signals and time-window filters.</a:t>
            </a:r>
          </a:p>
          <a:p>
            <a:pPr>
              <a:spcAft>
                <a:spcPts val="1000"/>
              </a:spcAft>
              <a:defRPr sz="2000">
                <a:solidFill>
                  <a:srgbClr val="F8FAFC"/>
                </a:solidFill>
              </a:defRPr>
            </a:pPr>
            <a:r>
              <a:t>Add amount thresholds and recent-activity scoring.</a:t>
            </a:r>
          </a:p>
          <a:p>
            <a:pPr>
              <a:spcAft>
                <a:spcPts val="1000"/>
              </a:spcAft>
              <a:defRPr sz="2000">
                <a:solidFill>
                  <a:srgbClr val="F8FAFC"/>
                </a:solidFill>
              </a:defRPr>
            </a:pPr>
            <a:r>
              <a:t>Add a path-view UI and exportable case notes for investigators.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172200"/>
            <a:ext cx="11155680" cy="32004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190488"/>
            <a:ext cx="107899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</a:defRPr>
            </a:pPr>
            <a:r>
              <a:t>CLOUDFORCE | TigerGraph Hackathon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04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</a:rPr>
              <a:t>Team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CLOUDFORCE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07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8FAFC"/>
                </a:solidFill>
              </a:defRPr>
            </a:pPr>
            <a:r>
              <a:t>Satyam Mall - data, GSQL, TigerGraph setup</a:t>
            </a:r>
          </a:p>
          <a:p>
            <a:pPr>
              <a:spcAft>
                <a:spcPts val="1000"/>
              </a:spcAft>
              <a:defRPr sz="2000">
                <a:solidFill>
                  <a:srgbClr val="F8FAFC"/>
                </a:solidFill>
              </a:defRPr>
            </a:pPr>
            <a:r>
              <a:t>Akash - UI, demo flow, and submission assets</a:t>
            </a:r>
          </a:p>
          <a:p>
            <a:pPr>
              <a:spcAft>
                <a:spcPts val="1000"/>
              </a:spcAft>
              <a:defRPr sz="2000">
                <a:solidFill>
                  <a:srgbClr val="F8FAFC"/>
                </a:solidFill>
              </a:defRPr>
            </a:pPr>
            <a:r>
              <a:t>Shaurya Srivastava - presentation</a:t>
            </a:r>
          </a:p>
          <a:p>
            <a:pPr>
              <a:spcAft>
                <a:spcPts val="1000"/>
              </a:spcAft>
              <a:defRPr sz="2000">
                <a:solidFill>
                  <a:srgbClr val="F8FAFC"/>
                </a:solidFill>
              </a:defRPr>
            </a:pPr>
            <a:r>
              <a:t>Hackathon repo: cloudforce-fraud-ring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172200"/>
            <a:ext cx="11155680" cy="32004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190488"/>
            <a:ext cx="107899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</a:defRPr>
            </a:pPr>
            <a:r>
              <a:t>CLOUDFORCE | TigerGraph Hackathon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